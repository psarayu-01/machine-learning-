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59" r:id="rId5"/>
    <p:sldId id="262" r:id="rId6"/>
    <p:sldId id="271" r:id="rId7"/>
    <p:sldId id="278" r:id="rId8"/>
    <p:sldId id="277" r:id="rId9"/>
    <p:sldId id="276" r:id="rId10"/>
    <p:sldId id="266" r:id="rId11"/>
    <p:sldId id="272" r:id="rId12"/>
    <p:sldId id="265" r:id="rId13"/>
    <p:sldId id="273"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7DC27C-DC45-4A17-A5A1-942E95222DF5}" v="43" dt="2026-04-03T17:12:06.201"/>
    <p1510:client id="{1D3B3F32-EDF3-4E2A-9945-DCE950120415}" v="12" dt="2026-04-04T06:21:12.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SARAYU" userId="f838ab48ee23ccb2" providerId="LiveId" clId="{50AE647B-7439-4C6D-BA0C-796B5FAD017E}"/>
    <pc:docChg chg="undo custSel addSld delSld modSld sldOrd">
      <pc:chgData name="LAKSHMI SARAYU" userId="f838ab48ee23ccb2" providerId="LiveId" clId="{50AE647B-7439-4C6D-BA0C-796B5FAD017E}" dt="2026-04-04T06:21:16.957" v="362" actId="113"/>
      <pc:docMkLst>
        <pc:docMk/>
      </pc:docMkLst>
      <pc:sldChg chg="modSp mod">
        <pc:chgData name="LAKSHMI SARAYU" userId="f838ab48ee23ccb2" providerId="LiveId" clId="{50AE647B-7439-4C6D-BA0C-796B5FAD017E}" dt="2026-04-04T03:01:04.004" v="152" actId="1076"/>
        <pc:sldMkLst>
          <pc:docMk/>
          <pc:sldMk cId="2437595748" sldId="257"/>
        </pc:sldMkLst>
        <pc:spChg chg="mod">
          <ac:chgData name="LAKSHMI SARAYU" userId="f838ab48ee23ccb2" providerId="LiveId" clId="{50AE647B-7439-4C6D-BA0C-796B5FAD017E}" dt="2026-04-04T03:00:45.726" v="147" actId="1076"/>
          <ac:spMkLst>
            <pc:docMk/>
            <pc:sldMk cId="2437595748" sldId="257"/>
            <ac:spMk id="2" creationId="{3C247DB8-EA92-1C11-ECEB-942C4773E9C7}"/>
          </ac:spMkLst>
        </pc:spChg>
        <pc:spChg chg="mod">
          <ac:chgData name="LAKSHMI SARAYU" userId="f838ab48ee23ccb2" providerId="LiveId" clId="{50AE647B-7439-4C6D-BA0C-796B5FAD017E}" dt="2026-04-04T03:01:04.004" v="152" actId="1076"/>
          <ac:spMkLst>
            <pc:docMk/>
            <pc:sldMk cId="2437595748" sldId="257"/>
            <ac:spMk id="3" creationId="{D2F483DC-22D6-7CC6-5E3E-C6293674238E}"/>
          </ac:spMkLst>
        </pc:spChg>
      </pc:sldChg>
      <pc:sldChg chg="modSp mod">
        <pc:chgData name="LAKSHMI SARAYU" userId="f838ab48ee23ccb2" providerId="LiveId" clId="{50AE647B-7439-4C6D-BA0C-796B5FAD017E}" dt="2026-04-04T05:17:22.162" v="163" actId="255"/>
        <pc:sldMkLst>
          <pc:docMk/>
          <pc:sldMk cId="2287171222" sldId="259"/>
        </pc:sldMkLst>
        <pc:spChg chg="mod">
          <ac:chgData name="LAKSHMI SARAYU" userId="f838ab48ee23ccb2" providerId="LiveId" clId="{50AE647B-7439-4C6D-BA0C-796B5FAD017E}" dt="2026-04-03T17:21:01.519" v="14" actId="1076"/>
          <ac:spMkLst>
            <pc:docMk/>
            <pc:sldMk cId="2287171222" sldId="259"/>
            <ac:spMk id="2" creationId="{69F12F94-9809-DD7A-B7CB-8CFCC3CDB284}"/>
          </ac:spMkLst>
        </pc:spChg>
        <pc:spChg chg="mod">
          <ac:chgData name="LAKSHMI SARAYU" userId="f838ab48ee23ccb2" providerId="LiveId" clId="{50AE647B-7439-4C6D-BA0C-796B5FAD017E}" dt="2026-04-04T05:17:22.162" v="163" actId="255"/>
          <ac:spMkLst>
            <pc:docMk/>
            <pc:sldMk cId="2287171222" sldId="259"/>
            <ac:spMk id="3" creationId="{A64A0DCE-0F12-7FD4-900A-FAE65D1841F7}"/>
          </ac:spMkLst>
        </pc:spChg>
      </pc:sldChg>
      <pc:sldChg chg="modSp mod">
        <pc:chgData name="LAKSHMI SARAYU" userId="f838ab48ee23ccb2" providerId="LiveId" clId="{50AE647B-7439-4C6D-BA0C-796B5FAD017E}" dt="2026-04-04T06:21:16.957" v="362" actId="113"/>
        <pc:sldMkLst>
          <pc:docMk/>
          <pc:sldMk cId="3070692969" sldId="262"/>
        </pc:sldMkLst>
        <pc:spChg chg="mod">
          <ac:chgData name="LAKSHMI SARAYU" userId="f838ab48ee23ccb2" providerId="LiveId" clId="{50AE647B-7439-4C6D-BA0C-796B5FAD017E}" dt="2026-04-04T03:01:34.683" v="153" actId="1076"/>
          <ac:spMkLst>
            <pc:docMk/>
            <pc:sldMk cId="3070692969" sldId="262"/>
            <ac:spMk id="2" creationId="{BB504782-4B33-67C0-C34B-0EF037EAEA1B}"/>
          </ac:spMkLst>
        </pc:spChg>
        <pc:spChg chg="mod">
          <ac:chgData name="LAKSHMI SARAYU" userId="f838ab48ee23ccb2" providerId="LiveId" clId="{50AE647B-7439-4C6D-BA0C-796B5FAD017E}" dt="2026-04-04T06:21:16.957" v="362" actId="113"/>
          <ac:spMkLst>
            <pc:docMk/>
            <pc:sldMk cId="3070692969" sldId="262"/>
            <ac:spMk id="3" creationId="{51CD8276-F9E2-D6BE-583A-ED6400DF5B00}"/>
          </ac:spMkLst>
        </pc:spChg>
      </pc:sldChg>
      <pc:sldChg chg="del">
        <pc:chgData name="LAKSHMI SARAYU" userId="f838ab48ee23ccb2" providerId="LiveId" clId="{50AE647B-7439-4C6D-BA0C-796B5FAD017E}" dt="2026-04-03T17:18:15.103" v="0" actId="2696"/>
        <pc:sldMkLst>
          <pc:docMk/>
          <pc:sldMk cId="4205603550" sldId="263"/>
        </pc:sldMkLst>
      </pc:sldChg>
      <pc:sldChg chg="add del ord">
        <pc:chgData name="LAKSHMI SARAYU" userId="f838ab48ee23ccb2" providerId="LiveId" clId="{50AE647B-7439-4C6D-BA0C-796B5FAD017E}" dt="2026-04-04T05:52:34.122" v="328" actId="2696"/>
        <pc:sldMkLst>
          <pc:docMk/>
          <pc:sldMk cId="1121694344" sldId="264"/>
        </pc:sldMkLst>
      </pc:sldChg>
      <pc:sldChg chg="del">
        <pc:chgData name="LAKSHMI SARAYU" userId="f838ab48ee23ccb2" providerId="LiveId" clId="{50AE647B-7439-4C6D-BA0C-796B5FAD017E}" dt="2026-04-04T05:47:17.226" v="164" actId="2696"/>
        <pc:sldMkLst>
          <pc:docMk/>
          <pc:sldMk cId="1292330695" sldId="264"/>
        </pc:sldMkLst>
      </pc:sldChg>
      <pc:sldChg chg="modSp mod ord">
        <pc:chgData name="LAKSHMI SARAYU" userId="f838ab48ee23ccb2" providerId="LiveId" clId="{50AE647B-7439-4C6D-BA0C-796B5FAD017E}" dt="2026-04-04T03:00:06.853" v="141"/>
        <pc:sldMkLst>
          <pc:docMk/>
          <pc:sldMk cId="2572482745" sldId="268"/>
        </pc:sldMkLst>
        <pc:spChg chg="mod">
          <ac:chgData name="LAKSHMI SARAYU" userId="f838ab48ee23ccb2" providerId="LiveId" clId="{50AE647B-7439-4C6D-BA0C-796B5FAD017E}" dt="2026-04-03T17:21:46.490" v="22" actId="14100"/>
          <ac:spMkLst>
            <pc:docMk/>
            <pc:sldMk cId="2572482745" sldId="268"/>
            <ac:spMk id="3" creationId="{D202E274-7001-7673-4CC1-EFEFA1B6B136}"/>
          </ac:spMkLst>
        </pc:spChg>
      </pc:sldChg>
      <pc:sldChg chg="addSp delSp modSp del mod">
        <pc:chgData name="LAKSHMI SARAYU" userId="f838ab48ee23ccb2" providerId="LiveId" clId="{50AE647B-7439-4C6D-BA0C-796B5FAD017E}" dt="2026-04-04T05:52:51.938" v="329" actId="2696"/>
        <pc:sldMkLst>
          <pc:docMk/>
          <pc:sldMk cId="2413255362" sldId="274"/>
        </pc:sldMkLst>
        <pc:spChg chg="add mod">
          <ac:chgData name="LAKSHMI SARAYU" userId="f838ab48ee23ccb2" providerId="LiveId" clId="{50AE647B-7439-4C6D-BA0C-796B5FAD017E}" dt="2026-04-04T05:51:01.800" v="321" actId="20577"/>
          <ac:spMkLst>
            <pc:docMk/>
            <pc:sldMk cId="2413255362" sldId="274"/>
            <ac:spMk id="5" creationId="{935E2D1C-0D5F-3B55-5DC5-3DAB47988D10}"/>
          </ac:spMkLst>
        </pc:spChg>
        <pc:graphicFrameChg chg="del">
          <ac:chgData name="LAKSHMI SARAYU" userId="f838ab48ee23ccb2" providerId="LiveId" clId="{50AE647B-7439-4C6D-BA0C-796B5FAD017E}" dt="2026-04-04T05:47:46.878" v="166" actId="478"/>
          <ac:graphicFrameMkLst>
            <pc:docMk/>
            <pc:sldMk cId="2413255362" sldId="274"/>
            <ac:graphicFrameMk id="7" creationId="{1930764D-5529-56BA-2DC9-F7F35373B62C}"/>
          </ac:graphicFrameMkLst>
        </pc:graphicFrameChg>
      </pc:sldChg>
      <pc:sldChg chg="modSp mod">
        <pc:chgData name="LAKSHMI SARAYU" userId="f838ab48ee23ccb2" providerId="LiveId" clId="{50AE647B-7439-4C6D-BA0C-796B5FAD017E}" dt="2026-04-03T17:21:33.753" v="19" actId="1076"/>
        <pc:sldMkLst>
          <pc:docMk/>
          <pc:sldMk cId="1028974810" sldId="275"/>
        </pc:sldMkLst>
        <pc:spChg chg="mod">
          <ac:chgData name="LAKSHMI SARAYU" userId="f838ab48ee23ccb2" providerId="LiveId" clId="{50AE647B-7439-4C6D-BA0C-796B5FAD017E}" dt="2026-04-03T17:21:33.753" v="19" actId="1076"/>
          <ac:spMkLst>
            <pc:docMk/>
            <pc:sldMk cId="1028974810" sldId="275"/>
            <ac:spMk id="2" creationId="{2AE2D795-16E3-5DBF-AD97-2525C1F5818A}"/>
          </ac:spMkLst>
        </pc:spChg>
        <pc:spChg chg="mod">
          <ac:chgData name="LAKSHMI SARAYU" userId="f838ab48ee23ccb2" providerId="LiveId" clId="{50AE647B-7439-4C6D-BA0C-796B5FAD017E}" dt="2026-04-03T17:21:26.080" v="18" actId="27636"/>
          <ac:spMkLst>
            <pc:docMk/>
            <pc:sldMk cId="1028974810" sldId="275"/>
            <ac:spMk id="3" creationId="{22E8A8B6-2310-342A-8059-4016108A3E74}"/>
          </ac:spMkLst>
        </pc:spChg>
      </pc:sldChg>
      <pc:sldChg chg="add">
        <pc:chgData name="LAKSHMI SARAYU" userId="f838ab48ee23ccb2" providerId="LiveId" clId="{50AE647B-7439-4C6D-BA0C-796B5FAD017E}" dt="2026-04-04T05:47:31.698" v="165" actId="2890"/>
        <pc:sldMkLst>
          <pc:docMk/>
          <pc:sldMk cId="1433879114" sldId="278"/>
        </pc:sldMkLst>
      </pc:sldChg>
      <pc:sldChg chg="add del ord">
        <pc:chgData name="LAKSHMI SARAYU" userId="f838ab48ee23ccb2" providerId="LiveId" clId="{50AE647B-7439-4C6D-BA0C-796B5FAD017E}" dt="2026-04-04T05:52:30.591" v="327" actId="2696"/>
        <pc:sldMkLst>
          <pc:docMk/>
          <pc:sldMk cId="517884469" sldId="279"/>
        </pc:sldMkLst>
      </pc:sldChg>
      <pc:sldChg chg="modSp add del mod">
        <pc:chgData name="LAKSHMI SARAYU" userId="f838ab48ee23ccb2" providerId="LiveId" clId="{50AE647B-7439-4C6D-BA0C-796B5FAD017E}" dt="2026-04-04T05:52:21.759" v="324" actId="2696"/>
        <pc:sldMkLst>
          <pc:docMk/>
          <pc:sldMk cId="1352318026" sldId="280"/>
        </pc:sldMkLst>
        <pc:spChg chg="mod">
          <ac:chgData name="LAKSHMI SARAYU" userId="f838ab48ee23ccb2" providerId="LiveId" clId="{50AE647B-7439-4C6D-BA0C-796B5FAD017E}" dt="2026-04-04T05:51:17.548" v="323" actId="6549"/>
          <ac:spMkLst>
            <pc:docMk/>
            <pc:sldMk cId="1352318026" sldId="280"/>
            <ac:spMk id="5" creationId="{1D20814D-CD6A-6621-DC27-D811FE96175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3CF1-2F73-AFDF-4989-4AFB0DF3B0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CA7D50-6753-12DD-64F5-A14CFC83E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415E20-6E60-B9F7-00A9-DC1A3440D590}"/>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57CBEDF2-03A8-C4DA-B10D-36F1E6B7A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7D599-18EB-E2BD-E15C-128F94BECAB6}"/>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02763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8A03-A1A1-DE6B-AACE-7A7D197AF6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B8A189-CE98-891F-10AA-9A445871FF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ECCFF-1517-88A0-E8F2-3BAADC6E7D98}"/>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71452C15-4F5C-1D55-5A10-BFD6220A8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C8071-AF5B-7C9A-957C-41902829EFC5}"/>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2824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D75E-23B1-0380-B792-476CD894C7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66A0F6-35E6-E299-E568-5B449E8B8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E1E4C-B855-E079-8BBB-D49EE444D42D}"/>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03FFF47F-B6EF-1F60-B67E-CECE536E68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5010E-DA8D-6DBA-7B82-677E84031F32}"/>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76885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509E-60EB-4F45-1106-AFCB2396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A9E4CA-DBBF-C5CB-99C3-17066D036F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44E934-6350-AB25-4B9C-704D6B1F1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9780A9-DDE1-DE99-0A5B-F41464790029}"/>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6" name="Footer Placeholder 5">
            <a:extLst>
              <a:ext uri="{FF2B5EF4-FFF2-40B4-BE49-F238E27FC236}">
                <a16:creationId xmlns:a16="http://schemas.microsoft.com/office/drawing/2014/main" id="{884469DB-2F8D-E5BF-0331-6BA8DB141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77D72E-D079-F46C-269F-C13D006318C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56931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5FAB-D7B6-EA18-2819-309CC2DC0F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E5B04A-4B73-91C0-9DCF-D29A1691C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47D096-30DA-E1DF-9735-1437EA6C68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4C3796-CF2C-027C-A84D-A351F94835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BF7B04-32AC-5160-4C02-433E435931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CCDB7B-4BEB-3D7D-7FBC-F4F9CAA93725}"/>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8" name="Footer Placeholder 7">
            <a:extLst>
              <a:ext uri="{FF2B5EF4-FFF2-40B4-BE49-F238E27FC236}">
                <a16:creationId xmlns:a16="http://schemas.microsoft.com/office/drawing/2014/main" id="{8E145A57-8DE8-8F51-2FDE-BC04B04BD6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60CBE5-FA6B-EEBD-FDF1-28E0ACE93E8F}"/>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97294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AE5C-5674-66C8-62F9-9CD13D2AC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2E7F30-723D-F789-AA6C-7C7A3F4FA629}"/>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4" name="Footer Placeholder 3">
            <a:extLst>
              <a:ext uri="{FF2B5EF4-FFF2-40B4-BE49-F238E27FC236}">
                <a16:creationId xmlns:a16="http://schemas.microsoft.com/office/drawing/2014/main" id="{6680EC85-4639-8B33-6F71-BCFADD14F5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831979-D447-BB6A-6185-4AD9AB6EF42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59405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78BFF-97DA-0C46-F1A8-A4B168620A51}"/>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3" name="Footer Placeholder 2">
            <a:extLst>
              <a:ext uri="{FF2B5EF4-FFF2-40B4-BE49-F238E27FC236}">
                <a16:creationId xmlns:a16="http://schemas.microsoft.com/office/drawing/2014/main" id="{15CD71BA-6053-4430-B938-C099F9237A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2AF912-8D5D-568D-27A9-84A49ABB60A3}"/>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870845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1700-471D-1BD0-2914-2AB0E9678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52584A-AE16-3214-79A0-10B3E5BE39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A16A3-44F4-7065-C74C-CF5E00B6C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D621B-D66B-C313-7A49-1A4C4164B756}"/>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6" name="Footer Placeholder 5">
            <a:extLst>
              <a:ext uri="{FF2B5EF4-FFF2-40B4-BE49-F238E27FC236}">
                <a16:creationId xmlns:a16="http://schemas.microsoft.com/office/drawing/2014/main" id="{46D2ADC0-6732-CBC1-D61E-8C316FF3A7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922277-2D9E-E998-5F0C-29371DA028DA}"/>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3936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5248-5DD7-8C8C-74A4-F6996D889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0FE33E-582D-82D2-8081-84D99B0199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E5A870-3C51-CD2F-2291-8730E20AE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32C2E-DBC2-DD67-F951-D113D88F3F63}"/>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6" name="Footer Placeholder 5">
            <a:extLst>
              <a:ext uri="{FF2B5EF4-FFF2-40B4-BE49-F238E27FC236}">
                <a16:creationId xmlns:a16="http://schemas.microsoft.com/office/drawing/2014/main" id="{5C5B5FD2-EB6D-8131-2591-71F797A73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7BE22B-D517-0BEC-0CF4-4405C7DA7ECB}"/>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86350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29CEF-3C30-1856-85E8-576F085B8F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E34A65-7162-AB5B-E13E-FCE70248A4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875ED3-0647-18FF-85E4-1D55F89A4285}"/>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8BECE3BC-F842-5659-73BE-B1EFCFEAB4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A4CF2B-3D29-7B9A-6993-505B1F8538E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70058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0B59A1-B3E9-2AEF-2405-8B6A7841DC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C48E2-94C3-CBEB-1D5E-30F6B0CC13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7ED94-0078-B773-BB8B-6530A1E11A77}"/>
              </a:ext>
            </a:extLst>
          </p:cNvPr>
          <p:cNvSpPr>
            <a:spLocks noGrp="1"/>
          </p:cNvSpPr>
          <p:nvPr>
            <p:ph type="dt" sz="half" idx="10"/>
          </p:nvPr>
        </p:nvSpPr>
        <p:spPr/>
        <p:txBody>
          <a:body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42FB23F7-A87A-B85A-708F-7B793661A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B7C9F-0D29-2EE5-535D-008C23CBAFB0}"/>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29327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E6D41C-A0B6-DC28-B429-715B9A9E04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BECC3A-B594-FEA3-0CDE-C91D0919C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A3F8A-6BE3-807E-90A7-AEAE1E140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E901A0-E056-49F1-9E58-1E76867749A4}" type="datetimeFigureOut">
              <a:rPr lang="en-IN" smtClean="0"/>
              <a:t>04-04-2026</a:t>
            </a:fld>
            <a:endParaRPr lang="en-IN"/>
          </a:p>
        </p:txBody>
      </p:sp>
      <p:sp>
        <p:nvSpPr>
          <p:cNvPr id="5" name="Footer Placeholder 4">
            <a:extLst>
              <a:ext uri="{FF2B5EF4-FFF2-40B4-BE49-F238E27FC236}">
                <a16:creationId xmlns:a16="http://schemas.microsoft.com/office/drawing/2014/main" id="{5C28EAC8-67B4-F646-40AA-4C4A54321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0AC346-B883-60A2-6369-2D2BACE654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EE178D-1369-4C32-A5F7-569194E12761}" type="slidenum">
              <a:rPr lang="en-IN" smtClean="0"/>
              <a:t>‹#›</a:t>
            </a:fld>
            <a:endParaRPr lang="en-IN"/>
          </a:p>
        </p:txBody>
      </p:sp>
    </p:spTree>
    <p:extLst>
      <p:ext uri="{BB962C8B-B14F-4D97-AF65-F5344CB8AC3E}">
        <p14:creationId xmlns:p14="http://schemas.microsoft.com/office/powerpoint/2010/main" val="2598477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8C63-42EC-E038-7D47-F0B88D0510B1}"/>
              </a:ext>
            </a:extLst>
          </p:cNvPr>
          <p:cNvSpPr>
            <a:spLocks noGrp="1"/>
          </p:cNvSpPr>
          <p:nvPr>
            <p:ph type="ctrTitle"/>
          </p:nvPr>
        </p:nvSpPr>
        <p:spPr>
          <a:xfrm>
            <a:off x="1524000" y="1981899"/>
            <a:ext cx="9144000" cy="1837147"/>
          </a:xfrm>
        </p:spPr>
        <p:txBody>
          <a:bodyPr/>
          <a:lstStyle/>
          <a:p>
            <a:r>
              <a:rPr lang="en-US" b="1" dirty="0"/>
              <a:t>CANCER DRUG </a:t>
            </a:r>
            <a:br>
              <a:rPr lang="en-US" b="1" dirty="0"/>
            </a:br>
            <a:r>
              <a:rPr lang="en-US" b="1" dirty="0"/>
              <a:t>CLASSIFICATION</a:t>
            </a:r>
            <a:endParaRPr lang="en-IN" b="1" dirty="0"/>
          </a:p>
        </p:txBody>
      </p:sp>
      <p:sp>
        <p:nvSpPr>
          <p:cNvPr id="3" name="Subtitle 2">
            <a:extLst>
              <a:ext uri="{FF2B5EF4-FFF2-40B4-BE49-F238E27FC236}">
                <a16:creationId xmlns:a16="http://schemas.microsoft.com/office/drawing/2014/main" id="{FE395246-C9B6-21C3-23F8-49BC577D2073}"/>
              </a:ext>
            </a:extLst>
          </p:cNvPr>
          <p:cNvSpPr>
            <a:spLocks noGrp="1"/>
          </p:cNvSpPr>
          <p:nvPr>
            <p:ph type="subTitle" idx="1"/>
          </p:nvPr>
        </p:nvSpPr>
        <p:spPr>
          <a:xfrm>
            <a:off x="6096000" y="5735637"/>
            <a:ext cx="5678905" cy="841625"/>
          </a:xfrm>
        </p:spPr>
        <p:txBody>
          <a:bodyPr>
            <a:normAutofit lnSpcReduction="10000"/>
          </a:bodyPr>
          <a:lstStyle/>
          <a:p>
            <a:pPr algn="r"/>
            <a:r>
              <a:rPr lang="en-US" dirty="0"/>
              <a:t>		 SARAYU - 2420080004</a:t>
            </a:r>
          </a:p>
          <a:p>
            <a:pPr algn="r"/>
            <a:r>
              <a:rPr lang="en-US" dirty="0"/>
              <a:t>M SPOORTHI - 2420080086</a:t>
            </a:r>
          </a:p>
          <a:p>
            <a:pPr algn="r"/>
            <a:endParaRPr lang="en-IN" dirty="0"/>
          </a:p>
        </p:txBody>
      </p:sp>
      <p:pic>
        <p:nvPicPr>
          <p:cNvPr id="6" name="Picture 2" descr="MAPS &amp; DIRECTIONS - Best Private University in Telangana &amp; Andhra Pradesh | KLH  Hyderabad">
            <a:extLst>
              <a:ext uri="{FF2B5EF4-FFF2-40B4-BE49-F238E27FC236}">
                <a16:creationId xmlns:a16="http://schemas.microsoft.com/office/drawing/2014/main" id="{DB5B562B-7246-7AFE-CDF4-F4D39658C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195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7DB8-EA92-1C11-ECEB-942C4773E9C7}"/>
              </a:ext>
            </a:extLst>
          </p:cNvPr>
          <p:cNvSpPr>
            <a:spLocks noGrp="1"/>
          </p:cNvSpPr>
          <p:nvPr>
            <p:ph type="title"/>
          </p:nvPr>
        </p:nvSpPr>
        <p:spPr>
          <a:xfrm>
            <a:off x="0" y="-10096"/>
            <a:ext cx="4337304" cy="1325563"/>
          </a:xfrm>
        </p:spPr>
        <p:txBody>
          <a:bodyPr/>
          <a:lstStyle/>
          <a:p>
            <a:r>
              <a:rPr lang="en-US" b="1" dirty="0"/>
              <a:t>Table of Contents</a:t>
            </a:r>
            <a:endParaRPr lang="en-IN" b="1" dirty="0"/>
          </a:p>
        </p:txBody>
      </p:sp>
      <p:sp>
        <p:nvSpPr>
          <p:cNvPr id="3" name="Content Placeholder 2">
            <a:extLst>
              <a:ext uri="{FF2B5EF4-FFF2-40B4-BE49-F238E27FC236}">
                <a16:creationId xmlns:a16="http://schemas.microsoft.com/office/drawing/2014/main" id="{D2F483DC-22D6-7CC6-5E3E-C6293674238E}"/>
              </a:ext>
            </a:extLst>
          </p:cNvPr>
          <p:cNvSpPr>
            <a:spLocks noGrp="1"/>
          </p:cNvSpPr>
          <p:nvPr>
            <p:ph idx="1"/>
          </p:nvPr>
        </p:nvSpPr>
        <p:spPr>
          <a:xfrm>
            <a:off x="338328" y="1106425"/>
            <a:ext cx="11277697" cy="4899026"/>
          </a:xfrm>
        </p:spPr>
        <p:txBody>
          <a:bodyPr>
            <a:normAutofit fontScale="85000" lnSpcReduction="20000"/>
          </a:bodyPr>
          <a:lstStyle/>
          <a:p>
            <a:r>
              <a:rPr lang="en-US" dirty="0"/>
              <a:t>Title and Task </a:t>
            </a:r>
          </a:p>
          <a:p>
            <a:r>
              <a:rPr lang="en-US" dirty="0"/>
              <a:t>Problem Statement</a:t>
            </a:r>
          </a:p>
          <a:p>
            <a:r>
              <a:rPr lang="en-US" dirty="0"/>
              <a:t>Datasets Description</a:t>
            </a:r>
          </a:p>
          <a:p>
            <a:r>
              <a:rPr lang="en-US" dirty="0"/>
              <a:t>Methodology</a:t>
            </a:r>
          </a:p>
          <a:p>
            <a:r>
              <a:rPr lang="en-US" dirty="0"/>
              <a:t>Methodology of the Explainable AI</a:t>
            </a:r>
          </a:p>
          <a:p>
            <a:r>
              <a:rPr lang="en-US" dirty="0"/>
              <a:t>Patient Data Entry Interface </a:t>
            </a:r>
          </a:p>
          <a:p>
            <a:r>
              <a:rPr lang="en-US" dirty="0"/>
              <a:t>Clinical Recommendation Insights</a:t>
            </a:r>
          </a:p>
          <a:p>
            <a:r>
              <a:rPr lang="en-US" dirty="0"/>
              <a:t>The Most Prescribed Drugs</a:t>
            </a:r>
          </a:p>
          <a:p>
            <a:r>
              <a:rPr lang="en-US" dirty="0"/>
              <a:t>Sex Distribution and Cancer Types</a:t>
            </a:r>
          </a:p>
          <a:p>
            <a:r>
              <a:rPr lang="en-US" dirty="0"/>
              <a:t>Explainable AI on the Recommended Drug</a:t>
            </a:r>
          </a:p>
          <a:p>
            <a:r>
              <a:rPr lang="en-US" dirty="0"/>
              <a:t>Explainable AI &amp; Summary of the Patient</a:t>
            </a:r>
          </a:p>
          <a:p>
            <a:r>
              <a:rPr lang="en-US" dirty="0"/>
              <a:t>Conclusions</a:t>
            </a:r>
          </a:p>
          <a:p>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7FE4E5F3-B871-A3E7-3CFE-7E0E6B41C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59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5CD1-0DF9-2B2B-AD0D-A8C7E52A8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2D795-16E3-5DBF-AD97-2525C1F5818A}"/>
              </a:ext>
            </a:extLst>
          </p:cNvPr>
          <p:cNvSpPr>
            <a:spLocks noGrp="1"/>
          </p:cNvSpPr>
          <p:nvPr>
            <p:ph type="title"/>
          </p:nvPr>
        </p:nvSpPr>
        <p:spPr>
          <a:xfrm>
            <a:off x="356616" y="424110"/>
            <a:ext cx="7488936" cy="915035"/>
          </a:xfrm>
        </p:spPr>
        <p:txBody>
          <a:bodyPr>
            <a:normAutofit/>
          </a:bodyPr>
          <a:lstStyle/>
          <a:p>
            <a:r>
              <a:rPr lang="en-US" b="1" dirty="0"/>
              <a:t>TITLE AND Task</a:t>
            </a:r>
            <a:endParaRPr lang="en-IN" b="1" dirty="0"/>
          </a:p>
        </p:txBody>
      </p:sp>
      <p:sp>
        <p:nvSpPr>
          <p:cNvPr id="3" name="Content Placeholder 2">
            <a:extLst>
              <a:ext uri="{FF2B5EF4-FFF2-40B4-BE49-F238E27FC236}">
                <a16:creationId xmlns:a16="http://schemas.microsoft.com/office/drawing/2014/main" id="{22E8A8B6-2310-342A-8059-4016108A3E74}"/>
              </a:ext>
            </a:extLst>
          </p:cNvPr>
          <p:cNvSpPr>
            <a:spLocks noGrp="1"/>
          </p:cNvSpPr>
          <p:nvPr>
            <p:ph idx="1"/>
          </p:nvPr>
        </p:nvSpPr>
        <p:spPr>
          <a:xfrm>
            <a:off x="356616" y="1676732"/>
            <a:ext cx="11612880" cy="4870371"/>
          </a:xfrm>
        </p:spPr>
        <p:txBody>
          <a:bodyPr>
            <a:normAutofit/>
          </a:bodyPr>
          <a:lstStyle/>
          <a:p>
            <a:pPr marL="0" indent="0" algn="just">
              <a:buNone/>
            </a:pPr>
            <a:r>
              <a:rPr lang="en-US" b="1" dirty="0"/>
              <a:t>TITLE :</a:t>
            </a:r>
          </a:p>
          <a:p>
            <a:pPr marL="0" indent="0" algn="just">
              <a:buNone/>
            </a:pPr>
            <a:r>
              <a:rPr lang="en-US" dirty="0"/>
              <a:t>Develop an intelligent machine learning-based application that accurately classifies drugs based on patient medical attributes</a:t>
            </a:r>
            <a:r>
              <a:rPr lang="en-US" sz="2400" b="1" dirty="0"/>
              <a:t>.</a:t>
            </a:r>
          </a:p>
          <a:p>
            <a:pPr marL="0" indent="0" algn="just">
              <a:buNone/>
            </a:pPr>
            <a:endParaRPr lang="en-US" sz="2400" b="1" dirty="0"/>
          </a:p>
          <a:p>
            <a:pPr algn="just"/>
            <a:r>
              <a:rPr lang="en-US" b="1" dirty="0"/>
              <a:t>Task1: </a:t>
            </a:r>
            <a:r>
              <a:rPr lang="en-US" dirty="0"/>
              <a:t>Develop and integrate a real machine learning drug classification model. </a:t>
            </a:r>
          </a:p>
          <a:p>
            <a:pPr algn="just"/>
            <a:r>
              <a:rPr lang="en-US" b="1" dirty="0"/>
              <a:t>Task2: </a:t>
            </a:r>
            <a:r>
              <a:rPr lang="en-US" dirty="0"/>
              <a:t>Build secure backend authentication and database-based prediction history. </a:t>
            </a:r>
          </a:p>
          <a:p>
            <a:pPr algn="just"/>
            <a:r>
              <a:rPr lang="en-US" b="1" dirty="0"/>
              <a:t>Task3: </a:t>
            </a:r>
            <a:r>
              <a:rPr lang="en-US" dirty="0"/>
              <a:t>Implement explainable AI and clinical recommendation insights in the results dashboard.</a:t>
            </a:r>
          </a:p>
          <a:p>
            <a:pPr marL="0" indent="0" algn="just">
              <a:buNone/>
            </a:pPr>
            <a:endParaRPr lang="en-IN" sz="3200" dirty="0"/>
          </a:p>
          <a:p>
            <a:pPr marL="0" indent="0">
              <a:buNone/>
            </a:pP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6C9E4819-538F-B97A-E8A5-95660C280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97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2F94-9809-DD7A-B7CB-8CFCC3CDB284}"/>
              </a:ext>
            </a:extLst>
          </p:cNvPr>
          <p:cNvSpPr>
            <a:spLocks noGrp="1"/>
          </p:cNvSpPr>
          <p:nvPr>
            <p:ph type="title"/>
          </p:nvPr>
        </p:nvSpPr>
        <p:spPr>
          <a:xfrm>
            <a:off x="146304" y="390416"/>
            <a:ext cx="5087112" cy="915035"/>
          </a:xfrm>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A64A0DCE-0F12-7FD4-900A-FAE65D1841F7}"/>
              </a:ext>
            </a:extLst>
          </p:cNvPr>
          <p:cNvSpPr>
            <a:spLocks noGrp="1"/>
          </p:cNvSpPr>
          <p:nvPr>
            <p:ph idx="1"/>
          </p:nvPr>
        </p:nvSpPr>
        <p:spPr>
          <a:xfrm>
            <a:off x="627888" y="1472184"/>
            <a:ext cx="10661904" cy="4425696"/>
          </a:xfrm>
        </p:spPr>
        <p:txBody>
          <a:bodyPr>
            <a:normAutofit/>
          </a:bodyPr>
          <a:lstStyle/>
          <a:p>
            <a:pPr marL="0" indent="0" algn="just">
              <a:buNone/>
            </a:pPr>
            <a:r>
              <a:rPr lang="en-US" sz="2900" dirty="0">
                <a:latin typeface="Times New Roman" panose="02020603050405020304" pitchFamily="18" charset="0"/>
                <a:cs typeface="Times New Roman" panose="02020603050405020304" pitchFamily="18" charset="0"/>
              </a:rPr>
              <a:t>Cancer treatment involves different drugs for different types of cancer and patient conditions. However, selecting the most appropriate drug can be complex because it depends on multiple factors such as patient age, gender, physical health, and cancer type. There is a need for an effective method to classify and predict cancer drugs based on patient and disease information. The problem is to analyze patient data and develop a system that can accurately classify cancer drugs to support better treatment decisions.</a:t>
            </a:r>
          </a:p>
          <a:p>
            <a:pPr marL="0" indent="0" algn="just">
              <a:buNone/>
            </a:pPr>
            <a:endParaRPr lang="en-IN" sz="29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C9494C51-E043-7423-7B3B-7E5FAA0DD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171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4782-4B33-67C0-C34B-0EF037EAEA1B}"/>
              </a:ext>
            </a:extLst>
          </p:cNvPr>
          <p:cNvSpPr>
            <a:spLocks noGrp="1"/>
          </p:cNvSpPr>
          <p:nvPr>
            <p:ph type="title"/>
          </p:nvPr>
        </p:nvSpPr>
        <p:spPr>
          <a:xfrm>
            <a:off x="0" y="292302"/>
            <a:ext cx="10515600" cy="1325563"/>
          </a:xfrm>
        </p:spPr>
        <p:txBody>
          <a:bodyPr/>
          <a:lstStyle/>
          <a:p>
            <a:r>
              <a:rPr lang="en-US" b="1" dirty="0"/>
              <a:t>Dataset/s Description</a:t>
            </a:r>
            <a:endParaRPr lang="en-IN" b="1" dirty="0"/>
          </a:p>
        </p:txBody>
      </p:sp>
      <p:sp>
        <p:nvSpPr>
          <p:cNvPr id="3" name="Content Placeholder 2">
            <a:extLst>
              <a:ext uri="{FF2B5EF4-FFF2-40B4-BE49-F238E27FC236}">
                <a16:creationId xmlns:a16="http://schemas.microsoft.com/office/drawing/2014/main" id="{51CD8276-F9E2-D6BE-583A-ED6400DF5B00}"/>
              </a:ext>
            </a:extLst>
          </p:cNvPr>
          <p:cNvSpPr>
            <a:spLocks noGrp="1"/>
          </p:cNvSpPr>
          <p:nvPr>
            <p:ph idx="1"/>
          </p:nvPr>
        </p:nvSpPr>
        <p:spPr>
          <a:xfrm>
            <a:off x="600456" y="1368424"/>
            <a:ext cx="10372344" cy="4740073"/>
          </a:xfrm>
        </p:spPr>
        <p:txBody>
          <a:bodyPr>
            <a:normAutofit fontScale="77500" lnSpcReduction="20000"/>
          </a:bodyPr>
          <a:lstStyle/>
          <a:p>
            <a:r>
              <a:rPr lang="en-US" sz="3300" b="1" dirty="0"/>
              <a:t>Dataset-1</a:t>
            </a:r>
          </a:p>
          <a:p>
            <a:pPr lvl="1"/>
            <a:r>
              <a:rPr lang="en-US" sz="2000" dirty="0"/>
              <a:t>Total no of Samples: 1000 records </a:t>
            </a:r>
          </a:p>
          <a:p>
            <a:pPr lvl="1"/>
            <a:r>
              <a:rPr lang="en-US" sz="2000" dirty="0"/>
              <a:t>Training Samples: 700 (70%)</a:t>
            </a:r>
          </a:p>
          <a:p>
            <a:pPr lvl="1"/>
            <a:r>
              <a:rPr lang="en-US" sz="2000" dirty="0"/>
              <a:t>Validation Samples: 150 (15%)</a:t>
            </a:r>
          </a:p>
          <a:p>
            <a:pPr lvl="1"/>
            <a:r>
              <a:rPr lang="en-US" sz="2000" dirty="0"/>
              <a:t>Testing Samples: 150 (15%)</a:t>
            </a:r>
          </a:p>
          <a:p>
            <a:pPr lvl="1"/>
            <a:endParaRPr lang="en-US" b="1" dirty="0"/>
          </a:p>
          <a:p>
            <a:pPr marL="457200" lvl="1" indent="0">
              <a:buNone/>
            </a:pPr>
            <a:endParaRPr lang="en-US" b="1" dirty="0"/>
          </a:p>
          <a:p>
            <a:r>
              <a:rPr lang="en-US" b="1" dirty="0"/>
              <a:t>Labels Format</a:t>
            </a:r>
          </a:p>
          <a:p>
            <a:pPr marL="0" indent="0">
              <a:buNone/>
            </a:pPr>
            <a:r>
              <a:rPr lang="en-IN" sz="2200" dirty="0"/>
              <a:t>The target label is the Drug prescribed for cancer treatment.</a:t>
            </a:r>
          </a:p>
          <a:p>
            <a:r>
              <a:rPr lang="en-IN" sz="2200" dirty="0"/>
              <a:t>Cisplatin</a:t>
            </a:r>
          </a:p>
          <a:p>
            <a:r>
              <a:rPr lang="en-IN" sz="2200" dirty="0"/>
              <a:t>Tamoxifen</a:t>
            </a:r>
          </a:p>
          <a:p>
            <a:r>
              <a:rPr lang="en-IN" sz="2200" dirty="0"/>
              <a:t>Sorafenib</a:t>
            </a:r>
          </a:p>
          <a:p>
            <a:r>
              <a:rPr lang="en-IN" sz="2200" dirty="0"/>
              <a:t>5-Fluorouracil</a:t>
            </a:r>
          </a:p>
          <a:p>
            <a:r>
              <a:rPr lang="en-IN" sz="2200" dirty="0"/>
              <a:t>Other cancer drugs</a:t>
            </a:r>
          </a:p>
          <a:p>
            <a:pPr marL="0" indent="0">
              <a:buNone/>
            </a:pPr>
            <a:endParaRPr lang="en-IN" sz="2200" dirty="0"/>
          </a:p>
          <a:p>
            <a:pPr marL="0" indent="0">
              <a:buNone/>
            </a:pPr>
            <a:r>
              <a:rPr lang="en-IN" sz="2200" b="1" dirty="0"/>
              <a:t>DATASET FROM: </a:t>
            </a:r>
            <a:r>
              <a:rPr lang="en-IN" sz="2400" dirty="0"/>
              <a:t>Jawaharlal Nehru Technological University, Kakinada.</a:t>
            </a:r>
            <a:endParaRPr lang="en-IN" sz="2200" dirty="0"/>
          </a:p>
          <a:p>
            <a:endParaRPr lang="en-IN" sz="2200" dirty="0"/>
          </a:p>
          <a:p>
            <a:endParaRPr lang="en-IN" dirty="0"/>
          </a:p>
          <a:p>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BD169822-8ACE-0A8D-E365-54C4C07C1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692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1F4E-F770-03F7-ABF9-8A82A3C614D3}"/>
              </a:ext>
            </a:extLst>
          </p:cNvPr>
          <p:cNvSpPr>
            <a:spLocks noGrp="1"/>
          </p:cNvSpPr>
          <p:nvPr>
            <p:ph type="title"/>
          </p:nvPr>
        </p:nvSpPr>
        <p:spPr/>
        <p:txBody>
          <a:bodyPr/>
          <a:lstStyle/>
          <a:p>
            <a:r>
              <a:rPr lang="en-US" sz="3600" b="1" dirty="0"/>
              <a:t>Dataset/s Description</a:t>
            </a:r>
            <a:br>
              <a:rPr lang="en-IN" dirty="0"/>
            </a:br>
            <a:r>
              <a:rPr lang="en-IN" sz="2400" dirty="0"/>
              <a:t>Few sample of the dataset</a:t>
            </a:r>
          </a:p>
        </p:txBody>
      </p:sp>
      <p:pic>
        <p:nvPicPr>
          <p:cNvPr id="4" name="Content Placeholder 3">
            <a:extLst>
              <a:ext uri="{FF2B5EF4-FFF2-40B4-BE49-F238E27FC236}">
                <a16:creationId xmlns:a16="http://schemas.microsoft.com/office/drawing/2014/main" id="{82D959DD-1882-AB48-6DAE-2EB92D31B61A}"/>
              </a:ext>
            </a:extLst>
          </p:cNvPr>
          <p:cNvPicPr>
            <a:picLocks noGrp="1" noChangeAspect="1"/>
          </p:cNvPicPr>
          <p:nvPr>
            <p:ph idx="1"/>
          </p:nvPr>
        </p:nvPicPr>
        <p:blipFill>
          <a:blip r:embed="rId2"/>
          <a:stretch>
            <a:fillRect/>
          </a:stretch>
        </p:blipFill>
        <p:spPr>
          <a:xfrm>
            <a:off x="838200" y="1907115"/>
            <a:ext cx="10515600" cy="4188358"/>
          </a:xfrm>
          <a:prstGeom prst="rect">
            <a:avLst/>
          </a:prstGeom>
        </p:spPr>
      </p:pic>
    </p:spTree>
    <p:extLst>
      <p:ext uri="{BB962C8B-B14F-4D97-AF65-F5344CB8AC3E}">
        <p14:creationId xmlns:p14="http://schemas.microsoft.com/office/powerpoint/2010/main" val="159711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51F63-8586-DCEA-8191-23AA64060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46DD5-6E46-C9A9-2AFF-6B34C999D072}"/>
              </a:ext>
            </a:extLst>
          </p:cNvPr>
          <p:cNvSpPr>
            <a:spLocks noGrp="1"/>
          </p:cNvSpPr>
          <p:nvPr>
            <p:ph type="title"/>
          </p:nvPr>
        </p:nvSpPr>
        <p:spPr>
          <a:xfrm>
            <a:off x="109728" y="187478"/>
            <a:ext cx="10515600" cy="991727"/>
          </a:xfrm>
        </p:spPr>
        <p:txBody>
          <a:bodyPr/>
          <a:lstStyle/>
          <a:p>
            <a:r>
              <a:rPr lang="en-US" b="1" dirty="0"/>
              <a:t>Methodology</a:t>
            </a:r>
            <a:endParaRPr lang="en-IN" b="1" dirty="0"/>
          </a:p>
        </p:txBody>
      </p:sp>
      <p:graphicFrame>
        <p:nvGraphicFramePr>
          <p:cNvPr id="7" name="Content Placeholder 6">
            <a:extLst>
              <a:ext uri="{FF2B5EF4-FFF2-40B4-BE49-F238E27FC236}">
                <a16:creationId xmlns:a16="http://schemas.microsoft.com/office/drawing/2014/main" id="{0E819E6B-5670-3B57-A154-60E266ABA089}"/>
              </a:ext>
            </a:extLst>
          </p:cNvPr>
          <p:cNvGraphicFramePr>
            <a:graphicFrameLocks noGrp="1"/>
          </p:cNvGraphicFramePr>
          <p:nvPr>
            <p:ph idx="1"/>
          </p:nvPr>
        </p:nvGraphicFramePr>
        <p:xfrm>
          <a:off x="722185" y="1356852"/>
          <a:ext cx="10241472" cy="4678189"/>
        </p:xfrm>
        <a:graphic>
          <a:graphicData uri="http://schemas.openxmlformats.org/drawingml/2006/table">
            <a:tbl>
              <a:tblPr firstRow="1" bandRow="1">
                <a:tableStyleId>{5C22544A-7EE6-4342-B048-85BDC9FD1C3A}</a:tableStyleId>
              </a:tblPr>
              <a:tblGrid>
                <a:gridCol w="3413824">
                  <a:extLst>
                    <a:ext uri="{9D8B030D-6E8A-4147-A177-3AD203B41FA5}">
                      <a16:colId xmlns:a16="http://schemas.microsoft.com/office/drawing/2014/main" val="3916912621"/>
                    </a:ext>
                  </a:extLst>
                </a:gridCol>
                <a:gridCol w="3413824">
                  <a:extLst>
                    <a:ext uri="{9D8B030D-6E8A-4147-A177-3AD203B41FA5}">
                      <a16:colId xmlns:a16="http://schemas.microsoft.com/office/drawing/2014/main" val="282447374"/>
                    </a:ext>
                  </a:extLst>
                </a:gridCol>
                <a:gridCol w="3413824">
                  <a:extLst>
                    <a:ext uri="{9D8B030D-6E8A-4147-A177-3AD203B41FA5}">
                      <a16:colId xmlns:a16="http://schemas.microsoft.com/office/drawing/2014/main" val="2509869481"/>
                    </a:ext>
                  </a:extLst>
                </a:gridCol>
              </a:tblGrid>
              <a:tr h="394807">
                <a:tc>
                  <a:txBody>
                    <a:bodyPr/>
                    <a:lstStyle/>
                    <a:p>
                      <a:pPr>
                        <a:buNone/>
                      </a:pPr>
                      <a:r>
                        <a:rPr lang="en-IN" dirty="0"/>
                        <a:t>Pipeline Stage</a:t>
                      </a:r>
                    </a:p>
                  </a:txBody>
                  <a:tcPr anchor="ctr"/>
                </a:tc>
                <a:tc>
                  <a:txBody>
                    <a:bodyPr/>
                    <a:lstStyle/>
                    <a:p>
                      <a:r>
                        <a:rPr lang="en-IN" dirty="0"/>
                        <a:t>Purpose</a:t>
                      </a:r>
                    </a:p>
                  </a:txBody>
                  <a:tcPr/>
                </a:tc>
                <a:tc>
                  <a:txBody>
                    <a:bodyPr/>
                    <a:lstStyle/>
                    <a:p>
                      <a:r>
                        <a:rPr lang="en-IN" dirty="0"/>
                        <a:t>Model Used</a:t>
                      </a:r>
                    </a:p>
                  </a:txBody>
                  <a:tcPr/>
                </a:tc>
                <a:extLst>
                  <a:ext uri="{0D108BD9-81ED-4DB2-BD59-A6C34878D82A}">
                    <a16:rowId xmlns:a16="http://schemas.microsoft.com/office/drawing/2014/main" val="1752551261"/>
                  </a:ext>
                </a:extLst>
              </a:tr>
              <a:tr h="973496">
                <a:tc>
                  <a:txBody>
                    <a:bodyPr/>
                    <a:lstStyle/>
                    <a:p>
                      <a:r>
                        <a:rPr lang="en-IN" dirty="0"/>
                        <a:t>1. Raw Data Collection</a:t>
                      </a:r>
                    </a:p>
                  </a:txBody>
                  <a:tcPr/>
                </a:tc>
                <a:tc>
                  <a:txBody>
                    <a:bodyPr/>
                    <a:lstStyle/>
                    <a:p>
                      <a:r>
                        <a:rPr lang="en-IN" dirty="0"/>
                        <a:t>Collect patient clinical data (age, BP, cholesterol, BMI, etc.)</a:t>
                      </a:r>
                    </a:p>
                  </a:txBody>
                  <a:tcPr/>
                </a:tc>
                <a:tc>
                  <a:txBody>
                    <a:bodyPr/>
                    <a:lstStyle/>
                    <a:p>
                      <a:r>
                        <a:rPr lang="it-IT" dirty="0"/>
                        <a:t>No ML model (data acquisition stage)</a:t>
                      </a:r>
                      <a:endParaRPr lang="en-IN" dirty="0"/>
                    </a:p>
                  </a:txBody>
                  <a:tcPr/>
                </a:tc>
                <a:extLst>
                  <a:ext uri="{0D108BD9-81ED-4DB2-BD59-A6C34878D82A}">
                    <a16:rowId xmlns:a16="http://schemas.microsoft.com/office/drawing/2014/main" val="2140837488"/>
                  </a:ext>
                </a:extLst>
              </a:tr>
              <a:tr h="973496">
                <a:tc>
                  <a:txBody>
                    <a:bodyPr/>
                    <a:lstStyle/>
                    <a:p>
                      <a:r>
                        <a:rPr lang="en-IN" dirty="0"/>
                        <a:t>2. Data Cleaning</a:t>
                      </a:r>
                    </a:p>
                  </a:txBody>
                  <a:tcPr/>
                </a:tc>
                <a:tc>
                  <a:txBody>
                    <a:bodyPr/>
                    <a:lstStyle/>
                    <a:p>
                      <a:r>
                        <a:rPr lang="en-US" dirty="0"/>
                        <a:t>Remove errors and prepare dataset</a:t>
                      </a:r>
                      <a:endParaRPr lang="en-IN" dirty="0"/>
                    </a:p>
                  </a:txBody>
                  <a:tcPr/>
                </a:tc>
                <a:tc>
                  <a:txBody>
                    <a:bodyPr/>
                    <a:lstStyle/>
                    <a:p>
                      <a:r>
                        <a:rPr lang="en-US" dirty="0"/>
                        <a:t>Preprocessing using </a:t>
                      </a:r>
                      <a:r>
                        <a:rPr lang="en-US" b="0" dirty="0"/>
                        <a:t>Scikit-learn preprocessing tools</a:t>
                      </a:r>
                      <a:endParaRPr lang="en-IN" b="0" dirty="0"/>
                    </a:p>
                  </a:txBody>
                  <a:tcPr/>
                </a:tc>
                <a:extLst>
                  <a:ext uri="{0D108BD9-81ED-4DB2-BD59-A6C34878D82A}">
                    <a16:rowId xmlns:a16="http://schemas.microsoft.com/office/drawing/2014/main" val="1346782415"/>
                  </a:ext>
                </a:extLst>
              </a:tr>
              <a:tr h="681447">
                <a:tc>
                  <a:txBody>
                    <a:bodyPr/>
                    <a:lstStyle/>
                    <a:p>
                      <a:r>
                        <a:rPr lang="en-IN" dirty="0"/>
                        <a:t>3. Feature Engineering</a:t>
                      </a:r>
                    </a:p>
                  </a:txBody>
                  <a:tcPr/>
                </a:tc>
                <a:tc>
                  <a:txBody>
                    <a:bodyPr/>
                    <a:lstStyle/>
                    <a:p>
                      <a:r>
                        <a:rPr lang="en-US" dirty="0"/>
                        <a:t>Create meaningful features for training</a:t>
                      </a:r>
                      <a:endParaRPr lang="en-IN" dirty="0"/>
                    </a:p>
                  </a:txBody>
                  <a:tcPr/>
                </a:tc>
                <a:tc>
                  <a:txBody>
                    <a:bodyPr/>
                    <a:lstStyle/>
                    <a:p>
                      <a:r>
                        <a:rPr lang="en-IN" dirty="0" err="1"/>
                        <a:t>StandardScaler</a:t>
                      </a:r>
                      <a:r>
                        <a:rPr lang="en-IN" dirty="0"/>
                        <a:t> / Feature Selection (</a:t>
                      </a:r>
                      <a:r>
                        <a:rPr lang="en-IN" dirty="0" err="1"/>
                        <a:t>SelectKBest</a:t>
                      </a:r>
                      <a:r>
                        <a:rPr lang="en-IN" dirty="0"/>
                        <a:t>)</a:t>
                      </a:r>
                    </a:p>
                  </a:txBody>
                  <a:tcPr/>
                </a:tc>
                <a:extLst>
                  <a:ext uri="{0D108BD9-81ED-4DB2-BD59-A6C34878D82A}">
                    <a16:rowId xmlns:a16="http://schemas.microsoft.com/office/drawing/2014/main" val="1192943971"/>
                  </a:ext>
                </a:extLst>
              </a:tr>
              <a:tr h="973496">
                <a:tc>
                  <a:txBody>
                    <a:bodyPr/>
                    <a:lstStyle/>
                    <a:p>
                      <a:r>
                        <a:rPr lang="en-IN" dirty="0"/>
                        <a:t>4. Encoding</a:t>
                      </a:r>
                    </a:p>
                  </a:txBody>
                  <a:tcPr/>
                </a:tc>
                <a:tc>
                  <a:txBody>
                    <a:bodyPr/>
                    <a:lstStyle/>
                    <a:p>
                      <a:r>
                        <a:rPr lang="en-US" dirty="0"/>
                        <a:t>Convert categorical medical variables into numerical form</a:t>
                      </a:r>
                      <a:endParaRPr lang="en-IN" dirty="0"/>
                    </a:p>
                  </a:txBody>
                  <a:tcPr/>
                </a:tc>
                <a:tc>
                  <a:txBody>
                    <a:bodyPr/>
                    <a:lstStyle/>
                    <a:p>
                      <a:r>
                        <a:rPr lang="en-IN" dirty="0" err="1"/>
                        <a:t>OneHotEncoder</a:t>
                      </a:r>
                      <a:r>
                        <a:rPr lang="en-IN" dirty="0"/>
                        <a:t> / </a:t>
                      </a:r>
                      <a:r>
                        <a:rPr lang="en-IN" dirty="0" err="1"/>
                        <a:t>LabelEncoder</a:t>
                      </a:r>
                      <a:endParaRPr lang="en-IN" dirty="0"/>
                    </a:p>
                  </a:txBody>
                  <a:tcPr/>
                </a:tc>
                <a:extLst>
                  <a:ext uri="{0D108BD9-81ED-4DB2-BD59-A6C34878D82A}">
                    <a16:rowId xmlns:a16="http://schemas.microsoft.com/office/drawing/2014/main" val="635493361"/>
                  </a:ext>
                </a:extLst>
              </a:tr>
              <a:tr h="681447">
                <a:tc>
                  <a:txBody>
                    <a:bodyPr/>
                    <a:lstStyle/>
                    <a:p>
                      <a:r>
                        <a:rPr lang="en-IN" dirty="0"/>
                        <a:t>5. Model Training &amp; Prediction</a:t>
                      </a:r>
                    </a:p>
                  </a:txBody>
                  <a:tcPr/>
                </a:tc>
                <a:tc>
                  <a:txBody>
                    <a:bodyPr/>
                    <a:lstStyle/>
                    <a:p>
                      <a:r>
                        <a:rPr lang="en-US" dirty="0"/>
                        <a:t>Train ML model to predict the optimal drug</a:t>
                      </a:r>
                      <a:endParaRPr lang="en-IN" dirty="0"/>
                    </a:p>
                  </a:txBody>
                  <a:tcPr/>
                </a:tc>
                <a:tc>
                  <a:txBody>
                    <a:bodyPr/>
                    <a:lstStyle/>
                    <a:p>
                      <a:r>
                        <a:rPr lang="en-US" dirty="0"/>
                        <a:t>Random Forest Classifier (Primary Model)</a:t>
                      </a:r>
                      <a:endParaRPr lang="en-IN" dirty="0"/>
                    </a:p>
                  </a:txBody>
                  <a:tcPr/>
                </a:tc>
                <a:extLst>
                  <a:ext uri="{0D108BD9-81ED-4DB2-BD59-A6C34878D82A}">
                    <a16:rowId xmlns:a16="http://schemas.microsoft.com/office/drawing/2014/main" val="1399330935"/>
                  </a:ext>
                </a:extLst>
              </a:tr>
            </a:tbl>
          </a:graphicData>
        </a:graphic>
      </p:graphicFrame>
      <p:pic>
        <p:nvPicPr>
          <p:cNvPr id="4" name="Picture 2" descr="MAPS &amp; DIRECTIONS - Best Private University in Telangana &amp; Andhra Pradesh | KLH  Hyderabad">
            <a:extLst>
              <a:ext uri="{FF2B5EF4-FFF2-40B4-BE49-F238E27FC236}">
                <a16:creationId xmlns:a16="http://schemas.microsoft.com/office/drawing/2014/main" id="{DCF2B5F2-7EED-E1F7-2451-85574566D9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87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6B804-8BD8-08D8-961A-1A204333D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5D729-90BE-C36D-9D52-E1A0697B3918}"/>
              </a:ext>
            </a:extLst>
          </p:cNvPr>
          <p:cNvSpPr>
            <a:spLocks noGrp="1"/>
          </p:cNvSpPr>
          <p:nvPr>
            <p:ph type="title"/>
          </p:nvPr>
        </p:nvSpPr>
        <p:spPr>
          <a:xfrm>
            <a:off x="109728" y="187478"/>
            <a:ext cx="10515600" cy="991727"/>
          </a:xfrm>
        </p:spPr>
        <p:txBody>
          <a:bodyPr/>
          <a:lstStyle/>
          <a:p>
            <a:r>
              <a:rPr lang="en-US" b="1" dirty="0"/>
              <a:t>Methodology of the Explainable AI</a:t>
            </a:r>
            <a:endParaRPr lang="en-IN" b="1" dirty="0"/>
          </a:p>
        </p:txBody>
      </p:sp>
      <p:graphicFrame>
        <p:nvGraphicFramePr>
          <p:cNvPr id="7" name="Content Placeholder 6">
            <a:extLst>
              <a:ext uri="{FF2B5EF4-FFF2-40B4-BE49-F238E27FC236}">
                <a16:creationId xmlns:a16="http://schemas.microsoft.com/office/drawing/2014/main" id="{F053A40E-8498-71CF-D01B-3AEA55D825EE}"/>
              </a:ext>
            </a:extLst>
          </p:cNvPr>
          <p:cNvGraphicFramePr>
            <a:graphicFrameLocks noGrp="1"/>
          </p:cNvGraphicFramePr>
          <p:nvPr>
            <p:ph idx="1"/>
            <p:extLst>
              <p:ext uri="{D42A27DB-BD31-4B8C-83A1-F6EECF244321}">
                <p14:modId xmlns:p14="http://schemas.microsoft.com/office/powerpoint/2010/main" val="1915759630"/>
              </p:ext>
            </p:extLst>
          </p:nvPr>
        </p:nvGraphicFramePr>
        <p:xfrm>
          <a:off x="722184" y="1356852"/>
          <a:ext cx="10780968" cy="4714763"/>
        </p:xfrm>
        <a:graphic>
          <a:graphicData uri="http://schemas.openxmlformats.org/drawingml/2006/table">
            <a:tbl>
              <a:tblPr firstRow="1" bandRow="1">
                <a:tableStyleId>{5C22544A-7EE6-4342-B048-85BDC9FD1C3A}</a:tableStyleId>
              </a:tblPr>
              <a:tblGrid>
                <a:gridCol w="3593656">
                  <a:extLst>
                    <a:ext uri="{9D8B030D-6E8A-4147-A177-3AD203B41FA5}">
                      <a16:colId xmlns:a16="http://schemas.microsoft.com/office/drawing/2014/main" val="3916912621"/>
                    </a:ext>
                  </a:extLst>
                </a:gridCol>
                <a:gridCol w="3593656">
                  <a:extLst>
                    <a:ext uri="{9D8B030D-6E8A-4147-A177-3AD203B41FA5}">
                      <a16:colId xmlns:a16="http://schemas.microsoft.com/office/drawing/2014/main" val="282447374"/>
                    </a:ext>
                  </a:extLst>
                </a:gridCol>
                <a:gridCol w="3593656">
                  <a:extLst>
                    <a:ext uri="{9D8B030D-6E8A-4147-A177-3AD203B41FA5}">
                      <a16:colId xmlns:a16="http://schemas.microsoft.com/office/drawing/2014/main" val="2509869481"/>
                    </a:ext>
                  </a:extLst>
                </a:gridCol>
              </a:tblGrid>
              <a:tr h="465735">
                <a:tc>
                  <a:txBody>
                    <a:bodyPr/>
                    <a:lstStyle/>
                    <a:p>
                      <a:pPr>
                        <a:buNone/>
                      </a:pPr>
                      <a:r>
                        <a:rPr lang="en-IN" dirty="0"/>
                        <a:t>Explainability Method</a:t>
                      </a:r>
                    </a:p>
                  </a:txBody>
                  <a:tcPr anchor="ctr"/>
                </a:tc>
                <a:tc>
                  <a:txBody>
                    <a:bodyPr/>
                    <a:lstStyle/>
                    <a:p>
                      <a:r>
                        <a:rPr lang="en-IN" dirty="0"/>
                        <a:t>Purpose</a:t>
                      </a:r>
                    </a:p>
                  </a:txBody>
                  <a:tcPr/>
                </a:tc>
                <a:tc>
                  <a:txBody>
                    <a:bodyPr/>
                    <a:lstStyle/>
                    <a:p>
                      <a:r>
                        <a:rPr lang="en-IN" dirty="0"/>
                        <a:t>Output</a:t>
                      </a:r>
                    </a:p>
                  </a:txBody>
                  <a:tcPr/>
                </a:tc>
                <a:extLst>
                  <a:ext uri="{0D108BD9-81ED-4DB2-BD59-A6C34878D82A}">
                    <a16:rowId xmlns:a16="http://schemas.microsoft.com/office/drawing/2014/main" val="1752551261"/>
                  </a:ext>
                </a:extLst>
              </a:tr>
              <a:tr h="1148386">
                <a:tc>
                  <a:txBody>
                    <a:bodyPr/>
                    <a:lstStyle/>
                    <a:p>
                      <a:r>
                        <a:rPr lang="en-IN" dirty="0"/>
                        <a:t>SHAP</a:t>
                      </a:r>
                    </a:p>
                  </a:txBody>
                  <a:tcPr/>
                </a:tc>
                <a:tc>
                  <a:txBody>
                    <a:bodyPr/>
                    <a:lstStyle/>
                    <a:p>
                      <a:r>
                        <a:rPr lang="en-US" dirty="0"/>
                        <a:t>Shows feature impact on prediction</a:t>
                      </a:r>
                      <a:endParaRPr lang="en-IN" dirty="0"/>
                    </a:p>
                  </a:txBody>
                  <a:tcPr/>
                </a:tc>
                <a:tc>
                  <a:txBody>
                    <a:bodyPr/>
                    <a:lstStyle/>
                    <a:p>
                      <a:r>
                        <a:rPr lang="en-IN" dirty="0"/>
                        <a:t>Feature contribution graph</a:t>
                      </a:r>
                    </a:p>
                  </a:txBody>
                  <a:tcPr/>
                </a:tc>
                <a:extLst>
                  <a:ext uri="{0D108BD9-81ED-4DB2-BD59-A6C34878D82A}">
                    <a16:rowId xmlns:a16="http://schemas.microsoft.com/office/drawing/2014/main" val="2140837488"/>
                  </a:ext>
                </a:extLst>
              </a:tr>
              <a:tr h="1148386">
                <a:tc>
                  <a:txBody>
                    <a:bodyPr/>
                    <a:lstStyle/>
                    <a:p>
                      <a:r>
                        <a:rPr lang="en-IN" dirty="0"/>
                        <a:t>LIME</a:t>
                      </a:r>
                    </a:p>
                  </a:txBody>
                  <a:tcPr/>
                </a:tc>
                <a:tc>
                  <a:txBody>
                    <a:bodyPr/>
                    <a:lstStyle/>
                    <a:p>
                      <a:r>
                        <a:rPr lang="en-IN" dirty="0"/>
                        <a:t>Explains individual predictions</a:t>
                      </a:r>
                    </a:p>
                  </a:txBody>
                  <a:tcPr/>
                </a:tc>
                <a:tc>
                  <a:txBody>
                    <a:bodyPr/>
                    <a:lstStyle/>
                    <a:p>
                      <a:r>
                        <a:rPr lang="en-IN" dirty="0"/>
                        <a:t>Local feature importance</a:t>
                      </a:r>
                      <a:endParaRPr lang="en-IN" b="0" dirty="0"/>
                    </a:p>
                  </a:txBody>
                  <a:tcPr/>
                </a:tc>
                <a:extLst>
                  <a:ext uri="{0D108BD9-81ED-4DB2-BD59-A6C34878D82A}">
                    <a16:rowId xmlns:a16="http://schemas.microsoft.com/office/drawing/2014/main" val="1346782415"/>
                  </a:ext>
                </a:extLst>
              </a:tr>
              <a:tr h="803870">
                <a:tc>
                  <a:txBody>
                    <a:bodyPr/>
                    <a:lstStyle/>
                    <a:p>
                      <a:r>
                        <a:rPr lang="en-IN" dirty="0"/>
                        <a:t>Feature Importance</a:t>
                      </a:r>
                    </a:p>
                  </a:txBody>
                  <a:tcPr/>
                </a:tc>
                <a:tc>
                  <a:txBody>
                    <a:bodyPr/>
                    <a:lstStyle/>
                    <a:p>
                      <a:r>
                        <a:rPr lang="en-IN" dirty="0"/>
                        <a:t>Shows most important variables</a:t>
                      </a:r>
                    </a:p>
                  </a:txBody>
                  <a:tcPr/>
                </a:tc>
                <a:tc>
                  <a:txBody>
                    <a:bodyPr/>
                    <a:lstStyle/>
                    <a:p>
                      <a:r>
                        <a:rPr lang="en-IN" dirty="0"/>
                        <a:t>Ranked feature list</a:t>
                      </a:r>
                    </a:p>
                  </a:txBody>
                  <a:tcPr/>
                </a:tc>
                <a:extLst>
                  <a:ext uri="{0D108BD9-81ED-4DB2-BD59-A6C34878D82A}">
                    <a16:rowId xmlns:a16="http://schemas.microsoft.com/office/drawing/2014/main" val="1192943971"/>
                  </a:ext>
                </a:extLst>
              </a:tr>
              <a:tr h="1148386">
                <a:tc>
                  <a:txBody>
                    <a:bodyPr/>
                    <a:lstStyle/>
                    <a:p>
                      <a:r>
                        <a:rPr lang="en-IN" dirty="0"/>
                        <a:t>Decision Path</a:t>
                      </a:r>
                    </a:p>
                  </a:txBody>
                  <a:tcPr/>
                </a:tc>
                <a:tc>
                  <a:txBody>
                    <a:bodyPr/>
                    <a:lstStyle/>
                    <a:p>
                      <a:r>
                        <a:rPr lang="en-IN" dirty="0"/>
                        <a:t>Shows model reasoning</a:t>
                      </a:r>
                    </a:p>
                  </a:txBody>
                  <a:tcPr/>
                </a:tc>
                <a:tc>
                  <a:txBody>
                    <a:bodyPr/>
                    <a:lstStyle/>
                    <a:p>
                      <a:r>
                        <a:rPr lang="en-IN" dirty="0"/>
                        <a:t>Rule-based explanation</a:t>
                      </a:r>
                    </a:p>
                  </a:txBody>
                  <a:tcPr/>
                </a:tc>
                <a:extLst>
                  <a:ext uri="{0D108BD9-81ED-4DB2-BD59-A6C34878D82A}">
                    <a16:rowId xmlns:a16="http://schemas.microsoft.com/office/drawing/2014/main" val="635493361"/>
                  </a:ext>
                </a:extLst>
              </a:tr>
            </a:tbl>
          </a:graphicData>
        </a:graphic>
      </p:graphicFrame>
      <p:pic>
        <p:nvPicPr>
          <p:cNvPr id="4" name="Picture 2" descr="MAPS &amp; DIRECTIONS - Best Private University in Telangana &amp; Andhra Pradesh | KLH  Hyderabad">
            <a:extLst>
              <a:ext uri="{FF2B5EF4-FFF2-40B4-BE49-F238E27FC236}">
                <a16:creationId xmlns:a16="http://schemas.microsoft.com/office/drawing/2014/main" id="{396980AE-7697-91D7-90FC-C17C13EC58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426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11C0-362F-972A-B608-338C965C3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AC7E8-BD78-CB6B-82D2-EA5C6CC27198}"/>
              </a:ext>
            </a:extLst>
          </p:cNvPr>
          <p:cNvSpPr>
            <a:spLocks noGrp="1"/>
          </p:cNvSpPr>
          <p:nvPr>
            <p:ph type="title"/>
          </p:nvPr>
        </p:nvSpPr>
        <p:spPr>
          <a:xfrm>
            <a:off x="100584" y="146304"/>
            <a:ext cx="7104888" cy="1049419"/>
          </a:xfrm>
        </p:spPr>
        <p:txBody>
          <a:bodyPr>
            <a:normAutofit fontScale="90000"/>
          </a:bodyPr>
          <a:lstStyle/>
          <a:p>
            <a:br>
              <a:rPr lang="en-US" sz="3600" dirty="0">
                <a:latin typeface="+mn-lt"/>
              </a:rPr>
            </a:br>
            <a:r>
              <a:rPr lang="en-US" sz="3600" b="1" dirty="0">
                <a:latin typeface="+mn-lt"/>
              </a:rPr>
              <a:t>Clinical Recommendation Insights: </a:t>
            </a:r>
            <a:br>
              <a:rPr lang="en-US" dirty="0"/>
            </a:br>
            <a:endParaRPr lang="en-IN" sz="3600" dirty="0"/>
          </a:p>
        </p:txBody>
      </p:sp>
      <p:pic>
        <p:nvPicPr>
          <p:cNvPr id="4" name="Picture 2" descr="MAPS &amp; DIRECTIONS - Best Private University in Telangana &amp; Andhra Pradesh | KLH  Hyderabad">
            <a:extLst>
              <a:ext uri="{FF2B5EF4-FFF2-40B4-BE49-F238E27FC236}">
                <a16:creationId xmlns:a16="http://schemas.microsoft.com/office/drawing/2014/main" id="{E26FBA94-5029-34DA-CF7E-45E992F4C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7">
            <a:extLst>
              <a:ext uri="{FF2B5EF4-FFF2-40B4-BE49-F238E27FC236}">
                <a16:creationId xmlns:a16="http://schemas.microsoft.com/office/drawing/2014/main" id="{D693509D-1D62-B8B1-B04D-426C0AC8DDA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0625" y="1271016"/>
            <a:ext cx="11710749" cy="4739154"/>
          </a:xfrm>
          <a:prstGeom prst="rect">
            <a:avLst/>
          </a:prstGeom>
        </p:spPr>
      </p:pic>
    </p:spTree>
    <p:extLst>
      <p:ext uri="{BB962C8B-B14F-4D97-AF65-F5344CB8AC3E}">
        <p14:creationId xmlns:p14="http://schemas.microsoft.com/office/powerpoint/2010/main" val="2040665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2020-0D5C-A8E9-737D-1FFDFE2DF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35978-CC40-2E96-C0D3-1EA1BF13D83B}"/>
              </a:ext>
            </a:extLst>
          </p:cNvPr>
          <p:cNvSpPr>
            <a:spLocks noGrp="1"/>
          </p:cNvSpPr>
          <p:nvPr>
            <p:ph type="title"/>
          </p:nvPr>
        </p:nvSpPr>
        <p:spPr>
          <a:xfrm>
            <a:off x="0" y="-183515"/>
            <a:ext cx="10515600" cy="1325563"/>
          </a:xfrm>
        </p:spPr>
        <p:txBody>
          <a:bodyPr>
            <a:normAutofit/>
          </a:bodyPr>
          <a:lstStyle/>
          <a:p>
            <a:r>
              <a:rPr lang="en-US" sz="3600" b="1" dirty="0"/>
              <a:t>The Most Prescribed Drugs:</a:t>
            </a:r>
            <a:endParaRPr lang="en-IN" sz="3600" b="1" dirty="0"/>
          </a:p>
        </p:txBody>
      </p:sp>
      <p:pic>
        <p:nvPicPr>
          <p:cNvPr id="6" name="Content Placeholder 5">
            <a:extLst>
              <a:ext uri="{FF2B5EF4-FFF2-40B4-BE49-F238E27FC236}">
                <a16:creationId xmlns:a16="http://schemas.microsoft.com/office/drawing/2014/main" id="{6EB4F2FB-6242-8705-315F-258FE47335EC}"/>
              </a:ext>
            </a:extLst>
          </p:cNvPr>
          <p:cNvPicPr>
            <a:picLocks noGrp="1" noChangeAspect="1"/>
          </p:cNvPicPr>
          <p:nvPr>
            <p:ph idx="1"/>
          </p:nvPr>
        </p:nvPicPr>
        <p:blipFill>
          <a:blip r:embed="rId2"/>
          <a:stretch>
            <a:fillRect/>
          </a:stretch>
        </p:blipFill>
        <p:spPr>
          <a:xfrm>
            <a:off x="939774" y="1001558"/>
            <a:ext cx="10084451" cy="5560021"/>
          </a:xfrm>
          <a:prstGeom prst="rect">
            <a:avLst/>
          </a:prstGeom>
        </p:spPr>
      </p:pic>
      <p:pic>
        <p:nvPicPr>
          <p:cNvPr id="4" name="Picture 2" descr="MAPS &amp; DIRECTIONS - Best Private University in Telangana &amp; Andhra Pradesh | KLH  Hyderabad">
            <a:extLst>
              <a:ext uri="{FF2B5EF4-FFF2-40B4-BE49-F238E27FC236}">
                <a16:creationId xmlns:a16="http://schemas.microsoft.com/office/drawing/2014/main" id="{EA64AE66-C755-DF04-AC4B-98BF62534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61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8053E-EEFC-680A-9E52-128EEBF60A04}"/>
              </a:ext>
            </a:extLst>
          </p:cNvPr>
          <p:cNvSpPr txBox="1"/>
          <p:nvPr/>
        </p:nvSpPr>
        <p:spPr>
          <a:xfrm>
            <a:off x="176022" y="245102"/>
            <a:ext cx="7733538" cy="646331"/>
          </a:xfrm>
          <a:prstGeom prst="rect">
            <a:avLst/>
          </a:prstGeom>
          <a:noFill/>
        </p:spPr>
        <p:txBody>
          <a:bodyPr wrap="square">
            <a:spAutoFit/>
          </a:bodyPr>
          <a:lstStyle/>
          <a:p>
            <a:r>
              <a:rPr lang="en-US" sz="3600" b="1" dirty="0"/>
              <a:t>Sex Distribution and Cancer Types: </a:t>
            </a:r>
            <a:endParaRPr lang="en-IN" sz="3600" dirty="0"/>
          </a:p>
        </p:txBody>
      </p:sp>
      <p:pic>
        <p:nvPicPr>
          <p:cNvPr id="4" name="Picture 3">
            <a:extLst>
              <a:ext uri="{FF2B5EF4-FFF2-40B4-BE49-F238E27FC236}">
                <a16:creationId xmlns:a16="http://schemas.microsoft.com/office/drawing/2014/main" id="{8D932035-321A-AEA5-1FA7-A75AD5D8B1BC}"/>
              </a:ext>
            </a:extLst>
          </p:cNvPr>
          <p:cNvPicPr>
            <a:picLocks noChangeAspect="1"/>
          </p:cNvPicPr>
          <p:nvPr/>
        </p:nvPicPr>
        <p:blipFill>
          <a:blip r:embed="rId2"/>
          <a:stretch>
            <a:fillRect/>
          </a:stretch>
        </p:blipFill>
        <p:spPr>
          <a:xfrm>
            <a:off x="374311" y="1409109"/>
            <a:ext cx="5399533" cy="3927029"/>
          </a:xfrm>
          <a:prstGeom prst="rect">
            <a:avLst/>
          </a:prstGeom>
        </p:spPr>
      </p:pic>
      <p:pic>
        <p:nvPicPr>
          <p:cNvPr id="5" name="Picture 4">
            <a:extLst>
              <a:ext uri="{FF2B5EF4-FFF2-40B4-BE49-F238E27FC236}">
                <a16:creationId xmlns:a16="http://schemas.microsoft.com/office/drawing/2014/main" id="{2A5E3245-B8D6-B07F-1C3B-365449119E41}"/>
              </a:ext>
            </a:extLst>
          </p:cNvPr>
          <p:cNvPicPr>
            <a:picLocks noChangeAspect="1"/>
          </p:cNvPicPr>
          <p:nvPr/>
        </p:nvPicPr>
        <p:blipFill>
          <a:blip r:embed="rId3"/>
          <a:stretch>
            <a:fillRect/>
          </a:stretch>
        </p:blipFill>
        <p:spPr>
          <a:xfrm>
            <a:off x="6547104" y="1409110"/>
            <a:ext cx="5399532" cy="3927029"/>
          </a:xfrm>
          <a:prstGeom prst="rect">
            <a:avLst/>
          </a:prstGeom>
        </p:spPr>
      </p:pic>
      <p:pic>
        <p:nvPicPr>
          <p:cNvPr id="2" name="Picture 2" descr="MAPS &amp; DIRECTIONS - Best Private University in Telangana &amp; Andhra Pradesh | KLH  Hyderabad">
            <a:extLst>
              <a:ext uri="{FF2B5EF4-FFF2-40B4-BE49-F238E27FC236}">
                <a16:creationId xmlns:a16="http://schemas.microsoft.com/office/drawing/2014/main" id="{A813260A-A271-D784-1701-BA0921EABE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892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0E56-EF2B-61C6-BCCB-4E95F9AC90BE}"/>
              </a:ext>
            </a:extLst>
          </p:cNvPr>
          <p:cNvSpPr>
            <a:spLocks noGrp="1"/>
          </p:cNvSpPr>
          <p:nvPr>
            <p:ph type="title"/>
          </p:nvPr>
        </p:nvSpPr>
        <p:spPr>
          <a:xfrm>
            <a:off x="0" y="277024"/>
            <a:ext cx="10515600" cy="797687"/>
          </a:xfrm>
        </p:spPr>
        <p:txBody>
          <a:bodyPr>
            <a:normAutofit fontScale="90000"/>
          </a:bodyPr>
          <a:lstStyle/>
          <a:p>
            <a:r>
              <a:rPr lang="en-US" sz="3600" b="1" dirty="0"/>
              <a:t>Explainable AI on the Recommended Drug:</a:t>
            </a:r>
            <a:br>
              <a:rPr lang="en-US" b="1" dirty="0"/>
            </a:br>
            <a:endParaRPr lang="en-IN" sz="2400" b="1" dirty="0"/>
          </a:p>
        </p:txBody>
      </p:sp>
      <p:pic>
        <p:nvPicPr>
          <p:cNvPr id="5" name="Content Placeholder 4">
            <a:extLst>
              <a:ext uri="{FF2B5EF4-FFF2-40B4-BE49-F238E27FC236}">
                <a16:creationId xmlns:a16="http://schemas.microsoft.com/office/drawing/2014/main" id="{5905C3B2-9710-152B-EAA3-7BE9EDE49B4B}"/>
              </a:ext>
            </a:extLst>
          </p:cNvPr>
          <p:cNvPicPr>
            <a:picLocks noGrp="1" noChangeAspect="1"/>
          </p:cNvPicPr>
          <p:nvPr>
            <p:ph idx="1"/>
          </p:nvPr>
        </p:nvPicPr>
        <p:blipFill>
          <a:blip r:embed="rId2"/>
          <a:stretch>
            <a:fillRect/>
          </a:stretch>
        </p:blipFill>
        <p:spPr>
          <a:xfrm>
            <a:off x="931355" y="1074711"/>
            <a:ext cx="9718766" cy="5198074"/>
          </a:xfrm>
          <a:prstGeom prst="rect">
            <a:avLst/>
          </a:prstGeom>
        </p:spPr>
      </p:pic>
      <p:pic>
        <p:nvPicPr>
          <p:cNvPr id="6" name="Picture 2" descr="MAPS &amp; DIRECTIONS - Best Private University in Telangana &amp; Andhra Pradesh | KLH  Hyderabad">
            <a:extLst>
              <a:ext uri="{FF2B5EF4-FFF2-40B4-BE49-F238E27FC236}">
                <a16:creationId xmlns:a16="http://schemas.microsoft.com/office/drawing/2014/main" id="{6FD1BCDF-5F19-E577-5CF5-5D6189956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42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A01A-D964-C268-29DA-3437503D2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E1955-0382-985C-C586-32613567AEE8}"/>
              </a:ext>
            </a:extLst>
          </p:cNvPr>
          <p:cNvSpPr>
            <a:spLocks noGrp="1"/>
          </p:cNvSpPr>
          <p:nvPr>
            <p:ph type="title"/>
          </p:nvPr>
        </p:nvSpPr>
        <p:spPr>
          <a:xfrm>
            <a:off x="76200" y="88029"/>
            <a:ext cx="7961376" cy="1036684"/>
          </a:xfrm>
        </p:spPr>
        <p:txBody>
          <a:bodyPr/>
          <a:lstStyle/>
          <a:p>
            <a:r>
              <a:rPr lang="en-US" sz="3600" b="1" dirty="0"/>
              <a:t>Explainable AI &amp; Summary of the Patient:</a:t>
            </a:r>
            <a:endParaRPr lang="en-IN" sz="2400" b="1" dirty="0"/>
          </a:p>
        </p:txBody>
      </p:sp>
      <p:pic>
        <p:nvPicPr>
          <p:cNvPr id="6" name="Picture 2" descr="MAPS &amp; DIRECTIONS - Best Private University in Telangana &amp; Andhra Pradesh | KLH  Hyderabad">
            <a:extLst>
              <a:ext uri="{FF2B5EF4-FFF2-40B4-BE49-F238E27FC236}">
                <a16:creationId xmlns:a16="http://schemas.microsoft.com/office/drawing/2014/main" id="{5FAAE814-28FF-5E67-8226-C7272AB0F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11" name="Content Placeholder 10">
            <a:extLst>
              <a:ext uri="{FF2B5EF4-FFF2-40B4-BE49-F238E27FC236}">
                <a16:creationId xmlns:a16="http://schemas.microsoft.com/office/drawing/2014/main" id="{76C068F5-0087-0619-07AF-2A49FEE7031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2703" y="1340992"/>
            <a:ext cx="11434709" cy="4785487"/>
          </a:xfrm>
          <a:prstGeom prst="rect">
            <a:avLst/>
          </a:prstGeom>
        </p:spPr>
      </p:pic>
    </p:spTree>
    <p:extLst>
      <p:ext uri="{BB962C8B-B14F-4D97-AF65-F5344CB8AC3E}">
        <p14:creationId xmlns:p14="http://schemas.microsoft.com/office/powerpoint/2010/main" val="2311480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AD26-E5F5-5973-A0EC-13F88AF42CE8}"/>
              </a:ext>
            </a:extLst>
          </p:cNvPr>
          <p:cNvSpPr>
            <a:spLocks noGrp="1"/>
          </p:cNvSpPr>
          <p:nvPr>
            <p:ph type="title"/>
          </p:nvPr>
        </p:nvSpPr>
        <p:spPr>
          <a:xfrm>
            <a:off x="0" y="0"/>
            <a:ext cx="2874264" cy="1271651"/>
          </a:xfrm>
        </p:spPr>
        <p:txBody>
          <a:bodyPr/>
          <a:lstStyle/>
          <a:p>
            <a:r>
              <a:rPr lang="en-US" b="1" dirty="0"/>
              <a:t>Conclusions</a:t>
            </a:r>
            <a:endParaRPr lang="en-IN" b="1" dirty="0"/>
          </a:p>
        </p:txBody>
      </p:sp>
      <p:sp>
        <p:nvSpPr>
          <p:cNvPr id="3" name="Content Placeholder 2">
            <a:extLst>
              <a:ext uri="{FF2B5EF4-FFF2-40B4-BE49-F238E27FC236}">
                <a16:creationId xmlns:a16="http://schemas.microsoft.com/office/drawing/2014/main" id="{D202E274-7001-7673-4CC1-EFEFA1B6B136}"/>
              </a:ext>
            </a:extLst>
          </p:cNvPr>
          <p:cNvSpPr>
            <a:spLocks noGrp="1"/>
          </p:cNvSpPr>
          <p:nvPr>
            <p:ph idx="1"/>
          </p:nvPr>
        </p:nvSpPr>
        <p:spPr>
          <a:xfrm>
            <a:off x="481584" y="1253330"/>
            <a:ext cx="11113008" cy="5074318"/>
          </a:xfrm>
        </p:spPr>
        <p:txBody>
          <a:bodyPr>
            <a:normAutofit/>
          </a:bodyPr>
          <a:lstStyle/>
          <a:p>
            <a:pPr algn="just"/>
            <a:r>
              <a:rPr lang="en-US" dirty="0" err="1"/>
              <a:t>OncoDx</a:t>
            </a:r>
            <a:r>
              <a:rPr lang="en-US" dirty="0"/>
              <a:t> is a smart and user-friendly oncology drug prediction system designed to support doctors in making better treatment decisions. </a:t>
            </a:r>
          </a:p>
          <a:p>
            <a:pPr algn="just"/>
            <a:r>
              <a:rPr lang="en-US" dirty="0"/>
              <a:t>By combining patient details, clinical vitals, cancer information, prediction confidence, analytics, history tracking, and clinical decision support, the application provides a complete platform for evidence-based drug recommendation. </a:t>
            </a:r>
          </a:p>
          <a:p>
            <a:pPr algn="just"/>
            <a:r>
              <a:rPr lang="en-US" dirty="0"/>
              <a:t>Its modern interface, secure login, explainable prediction features, and downloadable reports make it both practical and professional. </a:t>
            </a:r>
          </a:p>
          <a:p>
            <a:pPr algn="just"/>
            <a:r>
              <a:rPr lang="en-US" dirty="0"/>
              <a:t>Overall, </a:t>
            </a:r>
            <a:r>
              <a:rPr lang="en-US" dirty="0" err="1"/>
              <a:t>OncoDx</a:t>
            </a:r>
            <a:r>
              <a:rPr lang="en-US" dirty="0"/>
              <a:t> shows how AI can improve healthcare by making drug prediction more accurate, transparent, and efficient while still keeping the final decision in the hands of medical professionals. </a:t>
            </a: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B6E19936-D67B-7AB4-82C7-2A58CF2B7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482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62FBC-3687-87C7-FC7F-277D448EF6BB}"/>
              </a:ext>
            </a:extLst>
          </p:cNvPr>
          <p:cNvSpPr>
            <a:spLocks noGrp="1"/>
          </p:cNvSpPr>
          <p:nvPr>
            <p:ph idx="1"/>
          </p:nvPr>
        </p:nvSpPr>
        <p:spPr/>
        <p:txBody>
          <a:bodyPr>
            <a:normAutofit/>
          </a:bodyPr>
          <a:lstStyle/>
          <a:p>
            <a:pPr marL="0" indent="0" algn="ctr">
              <a:buNone/>
            </a:pPr>
            <a:r>
              <a:rPr lang="en-US" sz="5400" dirty="0"/>
              <a:t>Thank You</a:t>
            </a:r>
            <a:endParaRPr lang="en-IN" sz="5400" dirty="0"/>
          </a:p>
        </p:txBody>
      </p:sp>
      <p:pic>
        <p:nvPicPr>
          <p:cNvPr id="4" name="Picture 2" descr="MAPS &amp; DIRECTIONS - Best Private University in Telangana &amp; Andhra Pradesh | KLH  Hyderabad">
            <a:extLst>
              <a:ext uri="{FF2B5EF4-FFF2-40B4-BE49-F238E27FC236}">
                <a16:creationId xmlns:a16="http://schemas.microsoft.com/office/drawing/2014/main" id="{C6F8CFC0-5307-53E5-1582-E793FE694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781" y="2247589"/>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MAPS &amp; DIRECTIONS - Best Private University in Telangana &amp; Andhra Pradesh | KLH  Hyderabad">
            <a:extLst>
              <a:ext uri="{FF2B5EF4-FFF2-40B4-BE49-F238E27FC236}">
                <a16:creationId xmlns:a16="http://schemas.microsoft.com/office/drawing/2014/main" id="{D067E101-273C-CE51-6B7D-59F2CC40F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11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566</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CANCER DRUG  CLASSIFICATION</vt:lpstr>
      <vt:lpstr>Table of Contents</vt:lpstr>
      <vt:lpstr>TITLE AND Task</vt:lpstr>
      <vt:lpstr>Problem Statement</vt:lpstr>
      <vt:lpstr>Dataset/s Description</vt:lpstr>
      <vt:lpstr>Dataset/s Description Few sample of the dataset</vt:lpstr>
      <vt:lpstr>Methodology</vt:lpstr>
      <vt:lpstr>Methodology of the Explainable AI</vt:lpstr>
      <vt:lpstr> Clinical Recommendation Insights:  </vt:lpstr>
      <vt:lpstr>The Most Prescribed Drugs:</vt:lpstr>
      <vt:lpstr>PowerPoint Presentation</vt:lpstr>
      <vt:lpstr>Explainable AI on the Recommended Drug: </vt:lpstr>
      <vt:lpstr>Explainable AI &amp; Summary of the Patient:</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Jyothsna Datti</dc:creator>
  <cp:lastModifiedBy>LAKSHMI SARAYU</cp:lastModifiedBy>
  <cp:revision>14</cp:revision>
  <dcterms:created xsi:type="dcterms:W3CDTF">2026-02-05T06:38:40Z</dcterms:created>
  <dcterms:modified xsi:type="dcterms:W3CDTF">2026-04-04T08:04:03Z</dcterms:modified>
</cp:coreProperties>
</file>